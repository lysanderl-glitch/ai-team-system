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CAD2A"/>
                </a:solidFill>
                <a:latin typeface="Calibri"/>
              </a:defRPr>
            </a:pPr>
            <a:r>
              <a:t>SYNAPSE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用一场对话，构建AI协作运营体系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E95A7"/>
                </a:solidFill>
                <a:latin typeface="Calibri"/>
              </a:defRPr>
            </a:pPr>
            <a:r>
              <a:t>一个真实案例：如何通过与 AI CEO 的对话，一天内搭建 10 个团队、46 个 Agent 的完整运营体系，</a:t>
            </a:r>
            <a:br/>
            <a:r>
              <a:t>并在对话过程中不断发现问题、修正机制、持续进化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1828800" cy="13716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5A6072"/>
                </a:solidFill>
                <a:latin typeface="Calibri"/>
              </a:defRPr>
            </a:pPr>
            <a:r>
              <a:t>刘子杨  |  Janus Digital  |  2026.04.10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AI 技术发展太快，CEO 一个人管不过来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BD5E1"/>
                </a:solidFill>
                <a:latin typeface="Calibri"/>
              </a:defRPr>
            </a:pPr>
            <a:r>
              <a:t>Janus Digital 是一家建筑数字化资产运营管理公司。我们面临所有管理者都面临的挑战：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6576" cy="1005840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1554480"/>
            <a:ext cx="8010144" cy="100584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FFFF"/>
                </a:solidFill>
                <a:latin typeface="Calibri"/>
              </a:defRPr>
            </a:pPr>
            <a:r>
              <a:t>「我没有足够的时间逐一评估每个AI新工具。</a:t>
            </a:r>
            <a:br/>
            <a:r>
              <a:t>  我需要一个AI团队替我跟踪技术动态、做评估、做决策、做执行。</a:t>
            </a:r>
            <a:br/>
            <a:r>
              <a:t>  我只想提出目标，然后验收结果。」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BD5E1"/>
                </a:solidFill>
                <a:latin typeface="Calibri"/>
              </a:defRPr>
            </a:pPr>
            <a:r>
              <a:t>于是，在一场持续数小时的 Claude Code 对话中，我与 AI CEO Lysander 一起，从零构建了一套完整的 AI 协作运营体系。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CAD2A"/>
                </a:solidFill>
                <a:latin typeface="Calibri"/>
              </a:defRPr>
            </a:pPr>
            <a:r>
              <a:t>以下是这场对话的真实过程 — 包括成功、失败、纠错和进化。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场景一 · 角色定位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第一句话就暴露了问题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E95A7"/>
                </a:solidFill>
                <a:latin typeface="Calibri"/>
              </a:defRPr>
            </a:pPr>
            <a:r>
              <a:t>我要求AI确认管理体系是否生效时，发现系统把总裁和AI CEO的角色混在了一起。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46304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149047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55648" y="1508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169164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我是总裁 刘子杨；Lysander 是CEO，把这个定位确认清楚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694944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1"/>
            <a:ext cx="6949440" cy="68580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774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28CDC"/>
                </a:solidFill>
                <a:latin typeface="Calibri"/>
              </a:defRPr>
            </a:pPr>
            <a:r>
              <a:t>Lysander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6032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明白。角色关系已全局更新：总裁刘子杨=最高决策者，Lysander=AI管理者。已修改5个核心配置文件。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80467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18688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CAD2A"/>
                </a:solidFill>
                <a:latin typeface="Calibri"/>
              </a:defRPr>
            </a:pPr>
            <a:r>
              <a:t>💡 启示：AI体系的第一步不是技术，是定义谁对谁负责。角色不清，后续所有流程都是空中楼阁。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A6072"/>
                </a:solidFill>
                <a:latin typeface="Calibri"/>
              </a:defRPr>
            </a:pPr>
            <a:r>
              <a:t>这看似简单的一步，实际上定义了整个体系的权责基础 — 总裁是老板，Lysander是执行CEO，下面有智囊团和执行团队。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场景二 · 智囊团评审会实录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总裁说：我参与越少越好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94183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5648" y="960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14300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我参与越少越好，我的判断不一定准确。更多时候应该引入专家评审。我只关注提出目标和最终验收成果。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E95A7"/>
                </a:solidFill>
                <a:latin typeface="Calibri"/>
              </a:defRPr>
            </a:pPr>
            <a:r>
              <a:t>Lysander 立即召集智囊团 4 位专家开评审会，对当前执行链和决策链做完整分析 ——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1371600" cy="36576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战略分析师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488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执行链有3个结构性问题：无程序化强制、跨会话状态丢失、简单任务开销过大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1371600" cy="36576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决策顾问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5603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设计完整性 8/10，但强制执行力仅 3/10，跨会话连续性 2/10 — 差距巨大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71800"/>
            <a:ext cx="1371600" cy="36576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趋势洞察师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971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执行链遵守度会随对话深度递减 — 不是AI偷懒，是架构没有强制检查点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1371600" cy="36576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决策顾问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3832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能否保证每次都按流程执行？诚实回答：以当前架构，不能100%保证。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80467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04487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CAD2A"/>
                </a:solidFill>
                <a:latin typeface="Calibri"/>
              </a:defRPr>
            </a:pPr>
            <a:r>
              <a:t>💡 评审结果：均分 5.0 全票通过三级改进方案（规则层+机制层+代码层），当天全部落地。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场景二 · 决策体系的诞生与纠错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四级决策体系 — 专家先于CEO决策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E95A7"/>
                </a:solidFill>
                <a:latin typeface="Calibri"/>
              </a:defRPr>
            </a:pPr>
            <a:r>
              <a:t>体系建好后，总裁又发现了一个关键逻辑问题并即时纠正：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37160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139903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55648" y="1417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160020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当前的四级决策对吗？我认为 L1自动→L2专家→L3 CEO→L4总裁 更合适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3840480" cy="118872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36576" cy="1188720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222D"/>
                </a:solidFill>
                <a:latin typeface="Calibri"/>
              </a:defRPr>
            </a:pPr>
            <a:r>
              <a:t>修正前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L1自动 → L2 CEO判断 → L3专家 → L4总裁</a:t>
            </a:r>
            <a:br/>
            <a:br/>
            <a:r>
              <a:t>问题：CEO没有专家分析就做判断</a:t>
            </a:r>
            <a:br/>
            <a:r>
              <a:t>可能拍脑袋决策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286000"/>
            <a:ext cx="3840480" cy="118872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286000"/>
            <a:ext cx="36576" cy="11887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52C41A"/>
                </a:solidFill>
                <a:latin typeface="Calibri"/>
              </a:defRPr>
            </a:pPr>
            <a:r>
              <a:t>修正后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5603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L1自动 → L2专家评审 → L3 CEO决策 → L4总裁</a:t>
            </a:r>
            <a:br/>
            <a:br/>
            <a:r>
              <a:t>CEO每个决策都有专家分析做支撑</a:t>
            </a:r>
            <a:br/>
            <a:r>
              <a:t>专业的事先过专家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80467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21607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CAD2A"/>
                </a:solidFill>
                <a:latin typeface="Calibri"/>
              </a:defRPr>
            </a:pPr>
            <a:r>
              <a:t>💡 体系设计不是一次成型的。总裁的每次纠错都是体系进化的驱动力。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场景三 · 从一个需求到全自动管道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每天给我一份有用的AI情报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94183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5648" y="960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14300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AI技术发展太快，我没时间看。目标：每天收到专业AI专家结合我日常工作整理的分析报告，经智囊团审查后通知我。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E95A7"/>
                </a:solidFill>
                <a:latin typeface="Calibri"/>
              </a:defRPr>
            </a:pPr>
            <a:r>
              <a:t>Lysander 接到目标后的执行过程：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CAD2A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7726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新建 AI技术研究员（Graphify第6名成员），定义能力标准和信息源优先级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963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CAD2A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96312"/>
            <a:ext cx="7726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搜索 5 组 AI 前沿动态（Claude更新/Agent框架/Harness Engineering/工具链/企业案例）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437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CAD2A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43784"/>
            <a:ext cx="7726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手动生成首期情报日报，开发品牌化HTML报告生成器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912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CAD2A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91256"/>
            <a:ext cx="7726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创建远程定时任务（每天8am Dubai自动运行）+Slack通知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361188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0" y="363931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55648" y="3657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384048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查看了首期报告，质量完全符合我的要求，非常棒。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80467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07407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CAD2A"/>
                </a:solidFill>
                <a:latin typeface="Calibri"/>
              </a:defRPr>
            </a:pPr>
            <a:r>
              <a:t>💡 从需求到全自动管道只用了一个对话回合。总裁提目标，AI团队完成从设计到部署的全链路。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场景四 · 评审评分实录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报告不是用来看的，是用来执行的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94183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5648" y="960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14300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报告中的建议需要专业评估，批准后需要有执行者完成。我希望整个工作由多个专业AI Agent完成。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E95A7"/>
                </a:solidFill>
                <a:latin typeface="Calibri"/>
              </a:defRPr>
            </a:pPr>
            <a:r>
              <a:t>于是建立了情报行动管线 — 每条建议经过4专家评审后才能执行：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057400"/>
          <a:ext cx="8046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31"/>
                <a:gridCol w="1149531"/>
                <a:gridCol w="1149531"/>
                <a:gridCol w="1149531"/>
                <a:gridCol w="1149531"/>
                <a:gridCol w="1149531"/>
                <a:gridCol w="1149534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建议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战略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决策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趋势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均分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决定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CLAUDE.md→Harness Config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4.75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批准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创建方法论文档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4.67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批准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QA自动化评分引擎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4.25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批准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NVIDIA OpenShell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暂缓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3749039"/>
            <a:ext cx="80467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67327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CAD2A"/>
                </a:solidFill>
                <a:latin typeface="Calibri"/>
              </a:defRPr>
            </a:pPr>
            <a:r>
              <a:t>💡 评审规则：均分≥4.0批准 / 3.0-3.9有条件 / &lt;3.0暂缓 / 任一专家=1一票否决。3条批准后由Harness Ops执行。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场景五 · 在实践中发现漏洞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总裁追问：刚才谁执行的？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E95A7"/>
                </a:solidFill>
                <a:latin typeface="Calibri"/>
              </a:defRPr>
            </a:pPr>
            <a:r>
              <a:t>体系运行后，总裁的一句追问揭开了深层问题：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32588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0" y="135331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55648" y="1371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155448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刚才谁执行的？是AI团队吗？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694944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84831"/>
            <a:ext cx="6949440" cy="68580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3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28CDC"/>
                </a:solidFill>
                <a:latin typeface="Calibri"/>
              </a:defRPr>
            </a:pPr>
            <a:r>
              <a:t>Lysander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直说：不是。是我一个人执行的，没有体现团队分工。这和之前指出的问题是同一个。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283464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0" y="286207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55648" y="2880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306324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不要光是期望，要强制按照流程来干活。要充分分析原因，不要光是期望。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222D"/>
                </a:solidFill>
                <a:latin typeface="Calibri"/>
              </a:defRPr>
            </a:pPr>
            <a:r>
              <a:t>这个问题反复出现了3次 — 不是态度问题，是机制问题。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80467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41648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CAD2A"/>
                </a:solidFill>
                <a:latin typeface="Calibri"/>
              </a:defRPr>
            </a:pPr>
            <a:r>
              <a:t>💡 体系不靠下次注意，靠制度强制。这是整场对话中最重要的认知转折。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场景五 · Harness Engineering 的实战验证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Agent = Model +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E95A7"/>
                </a:solidFill>
                <a:latin typeface="Calibri"/>
              </a:defRPr>
            </a:pPr>
            <a:r>
              <a:t>这恰好验证了 Harness Engineering（2026年AI工程新范式）的核心概念：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840480" cy="164592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576" cy="1645920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222D"/>
                </a:solidFill>
                <a:latin typeface="Calibri"/>
              </a:defRPr>
            </a:pPr>
            <a:r>
              <a:t>只有 Guides（前馈控制）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CLAUDE.md 写了路由到团队</a:t>
            </a:r>
            <a:br/>
            <a:r>
              <a:t>但没有机制检查是否真的路由了</a:t>
            </a:r>
            <a:br/>
            <a:br/>
            <a:r>
              <a:t>→ 纸上的规则 ≠ 执行的保证</a:t>
            </a:r>
            <a:br/>
            <a:br/>
            <a:r>
              <a:t>Lysander 可以无阻碍地</a:t>
            </a:r>
            <a:br/>
            <a:r>
              <a:t>跳过团队派单直接干活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417320"/>
            <a:ext cx="3840480" cy="164592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417320"/>
            <a:ext cx="36576" cy="16459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52C41A"/>
                </a:solidFill>
                <a:latin typeface="Calibri"/>
              </a:defRPr>
            </a:pPr>
            <a:r>
              <a:t>Guide + Sensor 双保险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7373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Guide：强制团队派单表</a:t>
            </a:r>
            <a:br/>
            <a:r>
              <a:t>（执行前必须输出谁做什么）</a:t>
            </a:r>
            <a:br/>
            <a:br/>
            <a:r>
              <a:t>Sensor：执行审计师前置检查</a:t>
            </a:r>
            <a:br/>
            <a:r>
              <a:t>（没有派单就阻止执行）</a:t>
            </a:r>
            <a:br/>
            <a:br/>
            <a:r>
              <a:t>与开场问候同级，不可省略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8046720" cy="50292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36576" cy="502920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Harness Engineering: 模型不变，改变 Harness（环境、约束、反馈），Agent 的行为就改变。</a:t>
            </a:r>
            <a:br/>
            <a:r>
              <a:t>竞争力不在模型，在 Harness。 —— Martin Fowler / Red Hat / Anthropic,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插曲 · 一个有趣的小案例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参考一下官网 — AI逆向工程品牌色彩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94183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5648" y="960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14300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视觉效果参考 https://www.janusd.com/ 重新定义该内容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694944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73352"/>
            <a:ext cx="6949440" cy="68580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91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28CDC"/>
                </a:solidFill>
                <a:latin typeface="Calibri"/>
              </a:defRPr>
            </a:pPr>
            <a:r>
              <a:t>Lysander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网站是动态渲染的，CSS无法直接提取。换一个方式 — 抓取 Logo SVG 源码，从中逆向工程品牌色。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E95A7"/>
                </a:solidFill>
                <a:latin typeface="Calibri"/>
              </a:defRPr>
            </a:pPr>
            <a:r>
              <a:t>AI 团队从一个 SVG 文件中提取出完整品牌色彩体系：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365760" cy="365760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#FCAD2A</a:t>
            </a:r>
            <a:br/>
            <a:r>
              <a:t>Gold 品牌金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788920"/>
            <a:ext cx="365760" cy="365760"/>
          </a:xfrm>
          <a:prstGeom prst="rect">
            <a:avLst/>
          </a:prstGeom>
          <a:solidFill>
            <a:srgbClr val="013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#013A7D</a:t>
            </a:r>
            <a:br/>
            <a:r>
              <a:t>Deep Blue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2788920"/>
            <a:ext cx="365760" cy="365760"/>
          </a:xfrm>
          <a:prstGeom prst="rect">
            <a:avLst/>
          </a:prstGeom>
          <a:solidFill>
            <a:srgbClr val="028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9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#028CDC</a:t>
            </a:r>
            <a:br/>
            <a:r>
              <a:t>Cyan 天蓝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7999" y="2788920"/>
            <a:ext cx="36576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9" y="2788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#0A1628</a:t>
            </a:r>
            <a:br/>
            <a:r>
              <a:t>Dark BG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然后用这套色彩重写了报告模板 — 头部、表格、优先级标签、页脚全部对齐品牌视觉。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03320"/>
            <a:ext cx="80467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21607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CAD2A"/>
                </a:solidFill>
                <a:latin typeface="Calibri"/>
              </a:defRPr>
            </a:pPr>
            <a:r>
              <a:t>💡 给AI一个URL，它自己完成调研→提取→设计→实现→验证。这就是AI团队的工作方式。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场景六 · Agent 也需要绩效考核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首次审计：Janus全员0分，Growth全员0分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91440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94183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5648" y="960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14300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需要有专门的HR支持创建团队，创建的成员能力要符合标准，并且随着发展不断提升能力。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840480" cy="10972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6576" cy="1097280"/>
          </a:xfrm>
          <a:prstGeom prst="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222D"/>
                </a:solidFill>
                <a:latin typeface="Calibri"/>
              </a:defRPr>
            </a:pPr>
            <a:r>
              <a:t>审计发现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· Janus 6人全部 0 分（无元数据）</a:t>
            </a:r>
            <a:br/>
            <a:r>
              <a:t>· Growth 2人全部 0 分（Schema缺失）</a:t>
            </a:r>
            <a:br/>
            <a:r>
              <a:t>· 三种不同卡片格式混用</a:t>
            </a:r>
            <a:br/>
            <a:r>
              <a:t>· 大量C级能力描述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737360"/>
            <a:ext cx="3840480" cy="109728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737360"/>
            <a:ext cx="36576" cy="109728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755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52C41A"/>
                </a:solidFill>
                <a:latin typeface="Calibri"/>
              </a:defRPr>
            </a:pPr>
            <a:r>
              <a:t>建立的制度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659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· 强制Schema — 缺项不得上岗</a:t>
            </a:r>
            <a:br/>
            <a:r>
              <a:t>· A/B/C能力分级 — C级不合格</a:t>
            </a:r>
            <a:br/>
            <a:r>
              <a:t>· 入职审批 — 8项检查清单</a:t>
            </a:r>
            <a:br/>
            <a:r>
              <a:t>· 周度自动审计 — 每周一自动评分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CAD2A"/>
                </a:solidFill>
                <a:latin typeface="Calibri"/>
              </a:defRPr>
            </a:pPr>
            <a:r>
              <a:t>四轮整治：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E95A7"/>
                </a:solidFill>
                <a:latin typeface="Calibri"/>
              </a:defRPr>
            </a:pPr>
            <a:r>
              <a:t>第一轮·发现问题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310127"/>
            <a:ext cx="2930651" cy="109728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82412" y="3310127"/>
            <a:ext cx="1641348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32461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CAD2A"/>
                </a:solidFill>
                <a:latin typeface="Calibri"/>
              </a:defRPr>
            </a:pPr>
            <a:r>
              <a:t>64.1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38727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E95A7"/>
                </a:solidFill>
                <a:latin typeface="Calibri"/>
              </a:defRPr>
            </a:pPr>
            <a:r>
              <a:t>第二轮·基础修复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3602735"/>
            <a:ext cx="3799331" cy="109728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1092" y="3602735"/>
            <a:ext cx="772668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538727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CAD2A"/>
                </a:solidFill>
                <a:latin typeface="Calibri"/>
              </a:defRPr>
            </a:pPr>
            <a:r>
              <a:t>83.1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831335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E95A7"/>
                </a:solidFill>
                <a:latin typeface="Calibri"/>
              </a:defRPr>
            </a:pPr>
            <a:r>
              <a:t>第三轮·提标90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895344"/>
            <a:ext cx="4050791" cy="109728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02552" y="3895344"/>
            <a:ext cx="521208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831335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CAD2A"/>
                </a:solidFill>
                <a:latin typeface="Calibri"/>
              </a:defRPr>
            </a:pPr>
            <a:r>
              <a:t>88.6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239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E95A7"/>
                </a:solidFill>
                <a:latin typeface="Calibri"/>
              </a:defRPr>
            </a:pPr>
            <a:r>
              <a:t>最终·全员达标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4187952"/>
            <a:ext cx="4288536" cy="109728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0296" y="4187952"/>
            <a:ext cx="283464" cy="10972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412394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CAD2A"/>
                </a:solidFill>
                <a:latin typeface="Calibri"/>
              </a:defRPr>
            </a:pPr>
            <a:r>
              <a:t>93.8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场景七 · 头脑风暴现场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20个候选 → 5维评审 → Synapse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E95A7"/>
                </a:solidFill>
                <a:latin typeface="Calibri"/>
              </a:defRPr>
            </a:pPr>
            <a:r>
              <a:t>为整套体系命名，Lysander 组织智囊团全员头脑风暴 ——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371600" cy="36576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关联发现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3716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5条隐喻路径（Janus品牌/神经系统/操作系统/建筑/数字孪生），产出20个候选名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371600" cy="36576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趋势洞察师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7830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行业调研：避免 OS 后缀（太多人用）、AI 前缀（无辨识度）。好名字=一个词能讲故事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371600" cy="365760"/>
          </a:xfrm>
          <a:prstGeom prst="rect">
            <a:avLst/>
          </a:prstGeom>
          <a:solidFill>
            <a:srgbClr val="11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决策顾问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5维评审：品牌关联25% / 记忆度25% / 含义深度20% / 差异化15% / 扩展性15%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2743200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31"/>
                <a:gridCol w="1149531"/>
                <a:gridCol w="1149531"/>
                <a:gridCol w="1149531"/>
                <a:gridCol w="1149531"/>
                <a:gridCol w="1149531"/>
                <a:gridCol w="1149534"/>
              </a:tblGrid>
              <a:tr h="2514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候选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品牌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记忆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差异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扩展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总分</a:t>
                      </a:r>
                    </a:p>
                  </a:txBody>
                  <a:tcPr>
                    <a:solidFill>
                      <a:srgbClr val="013A7D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Janus Cortex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4.50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CAD2A"/>
                          </a:solidFill>
                          <a:latin typeface="Calibri"/>
                        </a:defRPr>
                      </a:pPr>
                      <a:r>
                        <a:t>Synapse ★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CAD2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CAD2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CAD2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CAD2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CAD2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CAD2A"/>
                          </a:solidFill>
                          <a:latin typeface="Calibri"/>
                        </a:defRPr>
                      </a:pPr>
                      <a:r>
                        <a:t>4.20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Nexus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4.00</a:t>
                      </a:r>
                    </a:p>
                  </a:txBody>
                  <a:tcPr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645920" y="3886200"/>
            <a:ext cx="6949440" cy="27432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3913632"/>
            <a:ext cx="6949440" cy="685800"/>
          </a:xfrm>
          <a:prstGeom prst="rect">
            <a:avLst/>
          </a:prstGeom>
          <a:solidFill>
            <a:srgbClr val="1A1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55648" y="3931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总裁 刘子杨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4114800"/>
            <a:ext cx="6720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Synapse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E95A7"/>
                </a:solidFill>
                <a:latin typeface="Calibri"/>
              </a:defRPr>
            </a:pPr>
            <a:r>
              <a:t>突触 — 神经元之间传递信号的关键节点。知识←突触→决策←突触→执行。一个词，讲完了整个体系。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SYNAPSE 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10 团队 · 46 Agent · 5 自动任务 · 24/7 运转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CAD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E95A7"/>
                </a:solidFill>
                <a:latin typeface="Calibri"/>
              </a:defRPr>
            </a:pPr>
            <a:r>
              <a:t>专业团队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005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CAD2A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173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E95A7"/>
                </a:solidFill>
                <a:latin typeface="Calibri"/>
              </a:defRPr>
            </a:pPr>
            <a:r>
              <a:t>AI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05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CAD2A"/>
                </a:solidFill>
                <a:latin typeface="Calibri"/>
              </a:defRPr>
            </a:pPr>
            <a:r>
              <a:t>93.8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173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E95A7"/>
                </a:solidFill>
                <a:latin typeface="Calibri"/>
              </a:defRPr>
            </a:pPr>
            <a:r>
              <a:t>审计均分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005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CAD2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4173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E95A7"/>
                </a:solidFill>
                <a:latin typeface="Calibri"/>
              </a:defRPr>
            </a:pPr>
            <a:r>
              <a:t>不合格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005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CAD2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4173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E95A7"/>
                </a:solidFill>
                <a:latin typeface="Calibri"/>
              </a:defRPr>
            </a:pPr>
            <a:r>
              <a:t>自动任务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005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CAD2A"/>
                </a:solidFill>
                <a:latin typeface="Calibri"/>
              </a:defRPr>
            </a:pPr>
            <a: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4173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8E95A7"/>
                </a:solidFill>
                <a:latin typeface="Calibri"/>
              </a:defRPr>
            </a:pPr>
            <a:r>
              <a:t>运转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300" b="1">
                <a:solidFill>
                  <a:srgbClr val="FCAD2A"/>
                </a:solidFill>
                <a:latin typeface="Calibri"/>
              </a:defRPr>
            </a:pPr>
            <a:r>
              <a:t>Synapse 体系架构</a:t>
            </a:r>
          </a:p>
          <a:p>
            <a:pPr>
              <a:spcAft>
                <a:spcPts val="33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├── 记忆层 ── Obsidian 第二大脑 (OBS)</a:t>
            </a:r>
          </a:p>
          <a:p>
            <a:pPr>
              <a:spcAft>
                <a:spcPts val="33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├── 控制层 ── Harness Engineering (Guides + Sensors)</a:t>
            </a:r>
          </a:p>
          <a:p>
            <a:pPr>
              <a:spcAft>
                <a:spcPts val="33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├── 执行层 ── 10 个团队 46 个 AI Agent</a:t>
            </a:r>
          </a:p>
          <a:p>
            <a:pPr>
              <a:spcAft>
                <a:spcPts val="330"/>
              </a:spcAft>
              <a:defRPr sz="900" b="0">
                <a:solidFill>
                  <a:srgbClr val="8E95A7"/>
                </a:solidFill>
                <a:latin typeface="Calibri"/>
              </a:defRPr>
            </a:pPr>
            <a:r>
              <a:t>│    Graphify(6)·HR(2)·Harness Ops(4)·Butler(7)·RD(5)·OBS(4)·Content(4)·Growth(2)·Janus(6)·Stock(5)</a:t>
            </a:r>
          </a:p>
          <a:p>
            <a:pPr>
              <a:spcAft>
                <a:spcPts val="33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├── 进化层 ── 情报闭环 (日报→评估→执行→报告)</a:t>
            </a:r>
          </a:p>
          <a:p>
            <a:pPr>
              <a:spcAft>
                <a:spcPts val="33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└── 决策层 ── L1自动 → L2专家 → L3 CEO → L4总裁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804672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15968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CAD2A"/>
                </a:solidFill>
                <a:latin typeface="Calibri"/>
              </a:defRPr>
            </a:pPr>
            <a:r>
              <a:t>💡 每天自动运转：6am任务恢复→8am情报日报→10am行动管线→每周一HR审计。总裁只看Slack通知。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FCAD2A"/>
                </a:solidFill>
                <a:latin typeface="Calibri"/>
              </a:defRPr>
            </a:pPr>
            <a:r>
              <a:t>核心洞察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1">
                <a:solidFill>
                  <a:srgbClr val="FFFFFF"/>
                </a:solidFill>
                <a:latin typeface="Calibri"/>
              </a:defRPr>
            </a:pPr>
            <a:r>
              <a:t>AI 的竞争力不在模型本身，</a:t>
            </a:r>
            <a:br/>
            <a:r>
              <a:t>而在于你为它构建的</a:t>
            </a:r>
            <a:br/>
            <a:r>
              <a:t>环境、约束、反馈和组织。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926080"/>
            <a:ext cx="1828800" cy="13716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CAD2A"/>
                </a:solidFill>
                <a:latin typeface="Calibri"/>
              </a:defRPr>
            </a:pPr>
            <a:r>
              <a:t>模型人人可用。Harness 才是壁垒。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5A6072"/>
                </a:solidFill>
                <a:latin typeface="Calibri"/>
              </a:defRPr>
            </a:pPr>
            <a:r>
              <a:t>这不是理论 — 是我们一天内亲手搭建并反复修正的真实经历。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CAD2A"/>
                </a:solidFill>
                <a:latin typeface="Calibri"/>
              </a:defRPr>
            </a:pPr>
            <a:r>
              <a:t>SYNAPSE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E95A7"/>
                </a:solidFill>
                <a:latin typeface="Calibri"/>
              </a:defRPr>
            </a:pPr>
            <a:r>
              <a:t>Janus Digital AI Operating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560320"/>
            <a:ext cx="1828800" cy="13716"/>
          </a:xfrm>
          <a:prstGeom prst="rect">
            <a:avLst/>
          </a:prstGeom>
          <a:solidFill>
            <a:srgbClr val="FCA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A6072"/>
                </a:solidFill>
                <a:latin typeface="Calibri"/>
              </a:defRPr>
            </a:pPr>
            <a:r>
              <a:t>Powered by Claude Code · Harness Engineering · Obsidian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8E95A7"/>
                </a:solidFill>
                <a:latin typeface="Calibri"/>
              </a:defRPr>
            </a:pPr>
            <a:r>
              <a:t>刘子杨  |  Janus Digital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