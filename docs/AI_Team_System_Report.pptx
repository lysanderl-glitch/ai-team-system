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CBD5E1"/>
                </a:solidFill>
                <a:latin typeface="Arial"/>
              </a:rPr>
              <a:t>AI Agent 市场规模预测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 (十亿美元)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2025</c:v>
                  </c:pt>
                  <c:pt idx="1">
                    <c:v>2026E</c:v>
                  </c:pt>
                  <c:pt idx="2">
                    <c:v>2027E</c:v>
                  </c:pt>
                  <c:pt idx="3">
                    <c:v>2028E</c:v>
                  </c:pt>
                  <c:pt idx="4">
                    <c:v>2030E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7.84</c:v>
                </c:pt>
                <c:pt idx="1">
                  <c:v>11.5</c:v>
                </c:pt>
                <c:pt idx="2">
                  <c:v>16.8</c:v>
                </c:pt>
                <c:pt idx="3">
                  <c:v>24.6</c:v>
                </c:pt>
                <c:pt idx="4">
                  <c:v>52.62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团队协作体系 × Obsidian 第二大脑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 AI Native 组织的工程实践与战略价值评估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分析框架：McKinsey Rewired  |  Gartner Hype Cycle  |  Deloitte Agentic AI Strategy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编制团队：Graphify 智囊团 + 内容运营团队  |  2026年4月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EA5E9">
              <a:alpha val="8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核心结论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91440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7276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4447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定位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45920" y="18105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已跳过概念验证阶段，进入可工程化落地的实践区间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80467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46888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70048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25420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评估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45920" y="2907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在“AI 价值最强预测因子”工作流重构维度得分最高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3566160"/>
            <a:ext cx="54864" cy="91440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67328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36393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对标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45920" y="40050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体系成熟度已超过 89% 的受访企业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731520" y="45445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29 位 AI 专家  |  6 个职能团队  |  4 级决策体系  |  代码化治理  |  2 分钟接入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行业坐标：全球 AI Agent 市场格局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34440"/>
          <a:ext cx="47548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20040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46.3%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577840" y="1280160"/>
            <a:ext cx="320040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1325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5%→4 0%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760720" y="16002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企业应用嵌入 Agent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60720" y="181051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2025→2026 预测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77840" y="2194560"/>
            <a:ext cx="320040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60720" y="2240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760720" y="25146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生产环境使用 Agent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60720" y="272491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2026 调查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577840" y="3108960"/>
            <a:ext cx="320040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76072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40%+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760720" y="34290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项目取消率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60720" y="363931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2027 预测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577840" y="4023360"/>
            <a:ext cx="320040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760720" y="4069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≈130家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760720" y="43434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 Agent 供应商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760720" y="455371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数千家 Agent Washing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数据来源: Gartner, Deloitte, OneReach.ai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成熟度阶梯：我们在哪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1344168"/>
            <a:ext cx="1371600" cy="274320"/>
          </a:xfrm>
          <a:prstGeom prst="rect">
            <a:avLst/>
          </a:prstGeom>
          <a:solidFill>
            <a:srgbClr val="475569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307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 AI 组织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1581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理论探索 | Mechanize 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1325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756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2093976"/>
            <a:ext cx="2286000" cy="274320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Agent 编排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459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Cognition/Devin 25% PRs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0" y="2075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82549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463040" y="2843784"/>
            <a:ext cx="3657600" cy="274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1645920" y="2807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体系化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45920" y="3081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决策代码化 + 知识沉淀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282549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28254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本项目当前位置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57530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463040" y="3593592"/>
            <a:ext cx="5029200" cy="274320"/>
          </a:xfrm>
          <a:prstGeom prst="rect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645920" y="35570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团队共享 Prompt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45920" y="3831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库 / 模板化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35753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32511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463040" y="4343400"/>
            <a:ext cx="7315200" cy="274320"/>
          </a:xfrm>
          <a:prstGeom prst="rect">
            <a:avLst/>
          </a:prstGeom>
          <a:solidFill>
            <a:srgbClr val="64748B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645920" y="43068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个人使用 AI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645920" y="4581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Copilot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43251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5994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全球企业前 2% 的先行者群体  |  Gartner: 仅约 130 家供应商具备真正 Agent 能力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四层组织架构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0" y="1188720"/>
            <a:ext cx="3657600" cy="64008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0" y="118872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12070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总裁（用户）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最高决策者 · 战略定向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2103120"/>
            <a:ext cx="4572000" cy="640080"/>
          </a:xfrm>
          <a:prstGeom prst="rect">
            <a:avLst/>
          </a:prstGeom>
          <a:solidFill>
            <a:srgbClr val="0EA5E9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0" y="2103120"/>
            <a:ext cx="54864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21214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Lysander CEO (AI)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日常管理 · 任务分解 · 决策路由 · 结果汇总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74320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0" y="3017520"/>
            <a:ext cx="5486400" cy="640080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28800" y="3017520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2011680" y="30358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Graphify 智囊团 (4人)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11680" y="3291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战略分析师 · 关联发现 · 趋势洞察 · 决策顾问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365760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931920"/>
            <a:ext cx="54864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50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大执行团队 (25人)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Butler(7)  |  RD(5)  |  OBS(4)  |  Content_ops(4)  |  Stock(5)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1234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合计 29 位 AI 专家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六大团队职能矩阵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5176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2651760" cy="457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Graphify 智囊团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1673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4人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战略分析、决策支持、趋势洞察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234440"/>
            <a:ext cx="265176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234440"/>
            <a:ext cx="2651760" cy="4572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4630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3192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Butler 团队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931920" y="1673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7人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47472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项目交付、IoT、PMO、UAT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1234440"/>
            <a:ext cx="265176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234440"/>
            <a:ext cx="2651760" cy="45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 研发团队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766560" y="1673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5人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30936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系统架构、全栈开发、DevOps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7200" y="3063240"/>
            <a:ext cx="265176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7200" y="3063240"/>
            <a:ext cx="2651760" cy="4572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9184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9728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知识管理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097280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4人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40080" y="3840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知识沉淀、检索、质量审核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291840" y="3063240"/>
            <a:ext cx="265176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91840" y="3063240"/>
            <a:ext cx="265176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29184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3192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Content_ops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931920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4人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474720" y="3840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博客、公众号、视觉设计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126480" y="3063240"/>
            <a:ext cx="265176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126480" y="3063240"/>
            <a:ext cx="2651760" cy="45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291840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76656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股票项目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766560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5人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6309360" y="3840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A股趋势交易系统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核心技术架构：三层模型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54864" cy="105156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325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数据层 — Obsidian Vault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4592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唯一数据源 · 29 张人员卡片 · 本地 Markdown · 零锁定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804672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468880"/>
            <a:ext cx="54864" cy="105156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配置层 — YAML 集群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4592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organization.yaml + decision_rules + *_experts.yaml + decision_log.json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749040"/>
            <a:ext cx="804672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3749040"/>
            <a:ext cx="54864" cy="105156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2336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3886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执行层 — Claude Code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4592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加载 · decision_check() · assemble_team() · execution_chain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572000" y="224028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75488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hr_watcher.py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572000" y="352044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754880" y="3493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hr_base.py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Rewired 框架评估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325880"/>
            <a:ext cx="457200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0" y="1325880"/>
            <a:ext cx="3657600" cy="2560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1874520"/>
            <a:ext cx="457200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0" y="1874520"/>
            <a:ext cx="457200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0" y="2423160"/>
            <a:ext cx="457200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0" y="2423160"/>
            <a:ext cx="457200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60320" y="2971800"/>
            <a:ext cx="457200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Shape 17"/>
          <p:cNvSpPr/>
          <p:nvPr/>
        </p:nvSpPr>
        <p:spPr>
          <a:xfrm>
            <a:off x="2560320" y="2971800"/>
            <a:ext cx="3657600" cy="2560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60320" y="3520440"/>
            <a:ext cx="457200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Shape 21"/>
          <p:cNvSpPr/>
          <p:nvPr/>
        </p:nvSpPr>
        <p:spPr>
          <a:xfrm>
            <a:off x="2560320" y="3520440"/>
            <a:ext cx="3657600" cy="2560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3474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60320" y="4069080"/>
            <a:ext cx="457200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Shape 25"/>
          <p:cNvSpPr/>
          <p:nvPr/>
        </p:nvSpPr>
        <p:spPr>
          <a:xfrm>
            <a:off x="2560320" y="4069080"/>
            <a:ext cx="2743200" cy="2560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59028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McKinsey: "AI 价值最强的单一预测因子 = 组织是否从根本上重新设计了工作流"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三层知识循环模型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" y="1371600"/>
            <a:ext cx="822960" cy="822960"/>
          </a:xfrm>
          <a:prstGeom prst="ellipse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173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人的经验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Obsidian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554480"/>
            <a:ext cx="320040" cy="320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606040" y="1371600"/>
            <a:ext cx="822960" cy="822960"/>
          </a:xfrm>
          <a:prstGeom prst="ellipse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606040" y="14173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24028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240280" y="2606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YAML/CLAUDE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554480"/>
            <a:ext cx="320040" cy="3200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343400" y="1371600"/>
            <a:ext cx="822960" cy="822960"/>
          </a:xfrm>
          <a:prstGeom prst="ellipse">
            <a:avLst/>
          </a:prstGeom>
          <a:solidFill>
            <a:srgbClr val="0EA5E9">
              <a:alpha val="8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4343400" y="14173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397764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977640" y="2606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团队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知识应用</a:t>
            </a:r>
            <a:endParaRPr lang="en-US" sz="11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554480"/>
            <a:ext cx="320040" cy="3200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080760" y="1371600"/>
            <a:ext cx="822960" cy="822960"/>
          </a:xfrm>
          <a:prstGeom prst="ellipse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6080760" y="14173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571500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审计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715000" y="2606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决策审计</a:t>
            </a:r>
            <a:endParaRPr lang="en-US" sz="11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554480"/>
            <a:ext cx="320040" cy="32004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818120" y="1371600"/>
            <a:ext cx="822960" cy="822960"/>
          </a:xfrm>
          <a:prstGeom prst="ellipse">
            <a:avLst/>
          </a:prstGeom>
          <a:solidFill>
            <a:srgbClr val="06B6D4">
              <a:alpha val="80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7818120" y="14173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745236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452360" y="2606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更新卡片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回到①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48640" y="3383280"/>
            <a:ext cx="804672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48640" y="338328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61188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55448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核心洞察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1554480" y="388620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知识从个人大脑流入系统，通过系统放大后回馈为组织资产。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"AI 原生企业将 AI 生成的专有洞察作为运营副产品沉淀，这些洞察是竞争对手无法复制的"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全球对标分析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有正式 Agent 战略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325880"/>
            <a:ext cx="5029200" cy="228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0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本体系 100%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645920"/>
            <a:ext cx="1156716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9" name="Text 7"/>
          <p:cNvSpPr/>
          <p:nvPr/>
        </p:nvSpPr>
        <p:spPr>
          <a:xfrm>
            <a:off x="4494276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全球均值 23%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生产环境使用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240280"/>
            <a:ext cx="5029200" cy="228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本体系 100%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2560320"/>
            <a:ext cx="553212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3890772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全球均值 11%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决策体系治理成熟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3154680"/>
            <a:ext cx="5029200" cy="228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本体系 100%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3474720"/>
            <a:ext cx="1056132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9" name="Text 17"/>
          <p:cNvSpPr/>
          <p:nvPr/>
        </p:nvSpPr>
        <p:spPr>
          <a:xfrm>
            <a:off x="4393692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全球均值 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工作流重新设计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4069080"/>
            <a:ext cx="5029200" cy="228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本体系 100%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4389120"/>
            <a:ext cx="1659636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4997196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全球均值 33%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数据来源: Deloitte State of AI in Enterprise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五大创新设计 (1/2)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402336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创新一：Obsidian 即 Single Source of Truth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19659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传统方式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Confluence + Notion + Excel + Jira + 邮件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 多源冲突、版本失控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本体系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Obsidian 唯一数据源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→ 本地优先 · 纯文本 · 零锁定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</a:rPr>
              <a:t>Obsidian 2026 年 150 万用户 (YoY +22%)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188720"/>
            <a:ext cx="402336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创新二：决策代码化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37760" y="19659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原则是“规则”而非“建议”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decision_check() 四级路由：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  Level 1: 小问题 → 直接执行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  Level 2: 代码审计 → QA 检查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  Level 3: 智囊团 → 深度分析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  Level 4: 超授权 → 上报总裁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5CF6"/>
                </a:solidFill>
              </a:rPr>
              <a:t>McKinsey: 治理成熟度领先组织评分 2.6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五大创新设计 (2/2)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261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创新三：Harness 错误自愈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15544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pre_execution_check() 拦截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decision_log.json 审计追踪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post_execution_evaluate() 自动评估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反馈回路更新关键词权重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468880"/>
            <a:ext cx="54864" cy="109728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32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542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创新四：零摩擦团队扩展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463040" y="28346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+ cd + claude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总耗时 &lt; 2 分钟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新成员第一天继承全部组织知识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行业平均上手周期: 1-4 周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749040"/>
            <a:ext cx="54864" cy="109728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233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822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创新五：轻量级 AI 原生架构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463040" y="41148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无服务器 · 无向量数据库 · 无 RAG Pipeline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即知识，YAML 即配置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即操作系统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部署复杂度: 分钟级 vs 行业平均天/周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Native 组织护城河模型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7680960" cy="658368"/>
          </a:xfrm>
          <a:prstGeom prst="rect">
            <a:avLst/>
          </a:prstGeom>
          <a:solidFill>
            <a:srgbClr val="64748B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43000"/>
            <a:ext cx="54864" cy="6583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612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7320" y="1161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工具效率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399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Copilot / Claude 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17320" y="158191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可被复制（一周内）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6583680" cy="658368"/>
          </a:xfrm>
          <a:prstGeom prst="rect">
            <a:avLst/>
          </a:prstGeom>
          <a:solidFill>
            <a:srgbClr val="06B6D4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965960"/>
            <a:ext cx="54864" cy="6583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984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17320" y="1984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流程重构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2219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TASK_EXECUTION_CHAIN 链式自动执行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17320" y="24048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中等壁垒（1-3 个月）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5120640" cy="658368"/>
          </a:xfrm>
          <a:prstGeom prst="rect">
            <a:avLst/>
          </a:prstGeom>
          <a:solidFill>
            <a:srgbClr val="0EA5E9">
              <a:alpha val="2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788920"/>
            <a:ext cx="54864" cy="6583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807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17320" y="2807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知识资产化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30449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专家定义 + decision_log + 人员卡片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17320" y="32278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高壁垒（6-12 个月）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611880"/>
            <a:ext cx="3474720" cy="658368"/>
          </a:xfrm>
          <a:prstGeom prst="rect">
            <a:avLst/>
          </a:prstGeom>
          <a:solidFill>
            <a:srgbClr val="8B5CF6">
              <a:alpha val="2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611880"/>
            <a:ext cx="54864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630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17320" y="3630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双飞轮自进化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38679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Feedback Loop + hr_watcher 记忆同步飞轮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17320" y="40507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最强壁垒（12 个月+）— 时间的函数，无法购买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1143000"/>
            <a:ext cx="2286000" cy="1234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1188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640080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算法适应性解释了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长期竞争优势差异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2148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of Management Review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第四层深入：双飞轮自进化机制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1148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飞轮 A：Harness Engineering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决策智能 Feedback Loop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decision_check()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2128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四级决策路由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68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record_decision()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670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每次决策自动记录到 decision_log.json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926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record_feedback()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31272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执行结果反馈: correct / incorrect / intervened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3832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_analyze_and_adjust()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5844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误判分析 → 自动调整关键词权重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840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decision_check() ↑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40416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下次决策更准确 → 回到①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4343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结果：系统越用越精准，决策准确率持续提升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143000"/>
            <a:ext cx="411480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143000"/>
            <a:ext cx="41148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飞轮 B：hr_watcher + 记忆同步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9204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知识实时同步飞轮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通道 1：HR 知识库同步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2286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Obsidian 编辑人员卡片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74920" y="2560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HRDirHandler 监控变更（防抖 2s）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74920" y="2834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sync_all_teams() 自动更新 YAML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74920" y="3108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团队能力实时生效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通道 2：Claude 记忆同步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74920" y="3794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Obsidian 更新记忆文件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74920" y="4069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ClaudeMemoryHandler 监控变更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74920" y="4343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sync-claude-memory.sh → .claude/ 目录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459028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结果：知识编辑即刻生效，零手动同步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Native 趋势展望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6217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54864" cy="6217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Agent Teams 发布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481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多实例协调原语（共享任务、P2P 消息）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38528"/>
            <a:ext cx="8046720" cy="6217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938528"/>
            <a:ext cx="54864" cy="6217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56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Agent SDK 发布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2311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4.6 配套 SDK，可将 hr_base.py 升级为 SDK 级编排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88336"/>
            <a:ext cx="8046720" cy="6217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688336"/>
            <a:ext cx="54864" cy="6217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706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 Devin 25% PRs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9809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承担公司四分之一代码产出，验证“辅助→主力”可行性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38144"/>
            <a:ext cx="8046720" cy="6217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438144"/>
            <a:ext cx="54864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40% 嵌入预测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730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企业应用 Agent 嵌入率一年 8 倍增长，先发窗口正在关闭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187952"/>
            <a:ext cx="8046720" cy="6217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187952"/>
            <a:ext cx="54864" cy="6217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Sloan Agentic Enterprise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跨职能治理成为必须，本体系决策体系已提前满足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演进路线图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1664208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88720" y="2194560"/>
            <a:ext cx="2560320" cy="2377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88720" y="2194560"/>
            <a:ext cx="256032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当前阶段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6974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专家体系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决策代码化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团队推广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反馈收集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组织能力沉淀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4840" y="1664208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Q3-Q4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49040" y="2194560"/>
            <a:ext cx="2560320" cy="2377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49040" y="2194560"/>
            <a:ext cx="25603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扩展阶段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26974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hr_watcher 实时同步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知识库补充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决策准确率调优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Teams 集成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组织效率放大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95160" y="1664208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2194560"/>
            <a:ext cx="2560320" cy="2377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9360" y="2194560"/>
            <a:ext cx="25603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自主化阶段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26974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自主发现知识缺口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自主迭代能力定义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自主组建临时项目组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组织自主进化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综合评级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评估维度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评分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行业分位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战略价值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BBF24"/>
                          </a:solidFill>
                        </a:rPr>
                        <a:t>★★★★★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A5E9"/>
                          </a:solidFill>
                        </a:rPr>
                        <a:t>Top 2%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架构先进性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BBF24"/>
                          </a:solidFill>
                        </a:rPr>
                        <a:t>★★★★★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A5E9"/>
                          </a:solidFill>
                        </a:rPr>
                        <a:t>Top 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工程完整度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BBF24"/>
                          </a:solidFill>
                        </a:rPr>
                        <a:t>★★★★☆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A5E9"/>
                          </a:solidFill>
                        </a:rPr>
                        <a:t>Top 10%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可扩展性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BBF24"/>
                          </a:solidFill>
                        </a:rPr>
                        <a:t>★★★★★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A5E9"/>
                          </a:solidFill>
                        </a:rPr>
                        <a:t>Top 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治理成熟度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BBF24"/>
                          </a:solidFill>
                        </a:rPr>
                        <a:t>★★★★☆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A5E9"/>
                          </a:solidFill>
                        </a:rPr>
                        <a:t>Top 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团队推广就绪度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BBF24"/>
                          </a:solidFill>
                        </a:rPr>
                        <a:t>★★★★☆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A5E9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</a:rPr>
                        <a:t>趋势契合度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BBF24"/>
                          </a:solidFill>
                        </a:rPr>
                        <a:t>★★★★★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A5E9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0EA5E9">
              <a:alpha val="1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418795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综合评级：★★★★☆ — 强烈推荐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当前阶段核心竞争力来源之一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优先行动建议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2179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6217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325880"/>
            <a:ext cx="54864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258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1234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核心同事完成接入 + 收集 2-4 周使用反馈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1508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立即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1325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 + 迭代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38528"/>
            <a:ext cx="8229600" cy="62179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938528"/>
            <a:ext cx="54864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075688"/>
            <a:ext cx="54864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7568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1984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 Butler 团队补充 3-5 份 SOP 到 Obsidian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2258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周内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0756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输出质量翻倍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688336"/>
            <a:ext cx="8229600" cy="62179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688336"/>
            <a:ext cx="54864" cy="6217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2825496"/>
            <a:ext cx="548640" cy="3474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82549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27340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启用 hr_watcher.py 实时同步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3040" y="30083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个月内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282549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知识更新零延迟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438144"/>
            <a:ext cx="8229600" cy="62179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438144"/>
            <a:ext cx="54864" cy="6217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" y="3575304"/>
            <a:ext cx="548640" cy="3474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57530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63040" y="34838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对接 Claude Agent Teams 多实例编排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63040" y="3758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个月内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35753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串行→并行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187952"/>
            <a:ext cx="8229600" cy="62179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4187952"/>
            <a:ext cx="54864" cy="6217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" y="4325112"/>
            <a:ext cx="548640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32511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463040" y="4233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输出方法论白皮书 / 行业分享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463040" y="4507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0" y="43251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行业影响力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3200400" y="3017520"/>
            <a:ext cx="274320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 AI Native 组织，让知识永不流失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Graphify 智囊团 + 内容运营团队 编制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2026 年 4 月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EA5E9">
              <a:alpha val="85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Team System Report</dc:title>
  <dc:subject>PptxGenJS Presentation</dc:subject>
  <dc:creator>Lysander</dc:creator>
  <cp:lastModifiedBy>Lysander</cp:lastModifiedBy>
  <cp:revision>1</cp:revision>
  <dcterms:created xsi:type="dcterms:W3CDTF">2026-04-09T16:53:52Z</dcterms:created>
  <dcterms:modified xsi:type="dcterms:W3CDTF">2026-04-09T16:53:52Z</dcterms:modified>
</cp:coreProperties>
</file>